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DCE6"/>
                </a:solidFill>
                <a:latin typeface="Aptos"/>
              </a:defRPr>
            </a:pPr>
            <a:r>
              <a:t>PBL • REVIEW 4 • FULL STACK WEB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7FF"/>
                </a:solidFill>
                <a:latin typeface="Aptos"/>
              </a:defRPr>
            </a:pPr>
            <a:r>
              <a:t>DIGITAL TWIN FACTORY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2697480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DDCE6"/>
                </a:solidFill>
                <a:latin typeface="Aptos"/>
              </a:defRPr>
            </a:pPr>
            <a:r>
              <a:t>Real-Time Industrial Monitoring and Predictive Maintenance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7BED7"/>
                </a:solidFill>
                <a:latin typeface="Aptos"/>
              </a:defRPr>
            </a:pPr>
            <a:r>
              <a:t>A connected view of machines, sensor telemetry, alarms and maintenance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7091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7FF"/>
                </a:solidFill>
                <a:latin typeface="Aptos"/>
              </a:defRPr>
            </a:pPr>
            <a:r>
              <a:t>Y. Swajith • C. Vanshika • Y. Somanath • Prabhu Charan</a:t>
            </a:r>
            <a:br/>
            <a:r>
              <a:t>Course: Full Stack Web Development (25SC2008E)  |  Guide: Dr. Chiranjeevi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636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7BED7"/>
                </a:solidFill>
                <a:latin typeface="Aptos"/>
              </a:defRPr>
            </a:pPr>
            <a:r>
              <a:t>Koneru Lakshmaiah Education Foundation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DCE6"/>
                </a:solidFill>
                <a:latin typeface="Aptos"/>
              </a:defRPr>
            </a:pPr>
            <a:r>
              <a:t>The problem we are addressing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7BED7"/>
                </a:solidFill>
                <a:latin typeface="Aptos"/>
              </a:defRPr>
            </a:pPr>
            <a:r>
              <a:t>Why a digital-twin monitoring view is useful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7280" cy="41148"/>
          </a:xfrm>
          <a:prstGeom prst="rect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474720" cy="1828800"/>
          </a:xfrm>
          <a:prstGeom prst="roundRect">
            <a:avLst/>
          </a:prstGeom>
          <a:solidFill>
            <a:srgbClr val="0F1F3A"/>
          </a:solidFill>
          <a:ln>
            <a:solidFill>
              <a:srgbClr val="24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28016"/>
          <a:lstStyle/>
          <a:p>
            <a:pPr algn="ctr">
              <a:defRPr sz="1600" b="1">
                <a:solidFill>
                  <a:srgbClr val="2DDCE6"/>
                </a:solidFill>
              </a:defRPr>
            </a:pPr>
            <a:r>
              <a:t>SCATTERED SIGNALS</a:t>
            </a:r>
          </a:p>
          <a:p>
            <a:pPr>
              <a:spcBef>
                <a:spcPts val="700"/>
              </a:spcBef>
              <a:defRPr sz="1200">
                <a:solidFill>
                  <a:srgbClr val="F0F7FF"/>
                </a:solidFill>
              </a:defRPr>
            </a:pPr>
            <a:r>
              <a:t>Sensor values and machine status can be difficult to review when separated across devices.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645920"/>
            <a:ext cx="3474720" cy="1828800"/>
          </a:xfrm>
          <a:prstGeom prst="roundRect">
            <a:avLst/>
          </a:prstGeom>
          <a:solidFill>
            <a:srgbClr val="0F1F3A"/>
          </a:solidFill>
          <a:ln>
            <a:solidFill>
              <a:srgbClr val="24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28016"/>
          <a:lstStyle/>
          <a:p>
            <a:pPr algn="ctr">
              <a:defRPr sz="1600" b="1">
                <a:solidFill>
                  <a:srgbClr val="2DDCE6"/>
                </a:solidFill>
              </a:defRPr>
            </a:pPr>
            <a:r>
              <a:t>LATE VISIBILITY</a:t>
            </a:r>
          </a:p>
          <a:p>
            <a:pPr>
              <a:spcBef>
                <a:spcPts val="700"/>
              </a:spcBef>
              <a:defRPr sz="1200">
                <a:solidFill>
                  <a:srgbClr val="F0F7FF"/>
                </a:solidFill>
              </a:defRPr>
            </a:pPr>
            <a:r>
              <a:t>Abnormal temperature, vibration or pressure needs attention before it becomes a larger operational issue.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474720" cy="1828800"/>
          </a:xfrm>
          <a:prstGeom prst="roundRect">
            <a:avLst/>
          </a:prstGeom>
          <a:solidFill>
            <a:srgbClr val="0F1F3A"/>
          </a:solidFill>
          <a:ln>
            <a:solidFill>
              <a:srgbClr val="24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28016"/>
          <a:lstStyle/>
          <a:p>
            <a:pPr algn="ctr">
              <a:defRPr sz="1600" b="1">
                <a:solidFill>
                  <a:srgbClr val="2DDCE6"/>
                </a:solidFill>
              </a:defRPr>
            </a:pPr>
            <a:r>
              <a:t>FOLLOW-UP GAP</a:t>
            </a:r>
          </a:p>
          <a:p>
            <a:pPr>
              <a:spcBef>
                <a:spcPts val="700"/>
              </a:spcBef>
              <a:defRPr sz="1200">
                <a:solidFill>
                  <a:srgbClr val="F0F7FF"/>
                </a:solidFill>
              </a:defRPr>
            </a:pPr>
            <a:r>
              <a:t>Teams need a shared way to review alarms and track maintenance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16052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0F7FF"/>
                </a:solidFill>
                <a:latin typeface="Aptos"/>
              </a:defRPr>
            </a:pPr>
            <a:r>
              <a:t>Project goal: bring telemetry, machine status, alarm history, trends and maintenance actions into one dashboard.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6235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AE4B"/>
                </a:solidFill>
                <a:latin typeface="Aptos"/>
              </a:defRPr>
            </a:pPr>
            <a:r>
              <a:t>This is a monitoring and decision-support prototype—not a certified machine-control or safety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DCE6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7BED7"/>
                </a:solidFill>
                <a:latin typeface="Aptos"/>
              </a:defRPr>
            </a:pPr>
            <a:r>
              <a:t>The full data path from sensor source to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7280" cy="41148"/>
          </a:xfrm>
          <a:prstGeom prst="rect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286000"/>
            <a:ext cx="1508760" cy="1874519"/>
          </a:xfrm>
          <a:prstGeom prst="roundRect">
            <a:avLst/>
          </a:prstGeom>
          <a:solidFill>
            <a:srgbClr val="0F1F3A"/>
          </a:solidFill>
          <a:ln>
            <a:solidFill>
              <a:srgbClr val="24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28016"/>
          <a:lstStyle/>
          <a:p>
            <a:pPr algn="ctr">
              <a:defRPr sz="1600" b="1">
                <a:solidFill>
                  <a:srgbClr val="2DDCE6"/>
                </a:solidFill>
              </a:defRPr>
            </a:pPr>
            <a:r>
              <a:t>EDGE / SIMULATOR</a:t>
            </a:r>
          </a:p>
          <a:p>
            <a:pPr>
              <a:spcBef>
                <a:spcPts val="700"/>
              </a:spcBef>
              <a:defRPr sz="1200">
                <a:solidFill>
                  <a:srgbClr val="F0F7FF"/>
                </a:solidFill>
              </a:defRPr>
            </a:pPr>
            <a:r>
              <a:t>ESP32 / Wokwi</a:t>
            </a:r>
            <a:br/>
            <a:r>
              <a:t>Virtual machines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47672" y="29718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DCE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95728" y="2286000"/>
            <a:ext cx="1508760" cy="1874519"/>
          </a:xfrm>
          <a:prstGeom prst="roundRect">
            <a:avLst/>
          </a:prstGeom>
          <a:solidFill>
            <a:srgbClr val="0F1F3A"/>
          </a:solidFill>
          <a:ln>
            <a:solidFill>
              <a:srgbClr val="24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28016"/>
          <a:lstStyle/>
          <a:p>
            <a:pPr algn="ctr">
              <a:defRPr sz="1600" b="1">
                <a:solidFill>
                  <a:srgbClr val="2DDCE6"/>
                </a:solidFill>
              </a:defRPr>
            </a:pPr>
            <a:r>
              <a:t>MQTT BROKER</a:t>
            </a:r>
          </a:p>
          <a:p>
            <a:pPr>
              <a:spcBef>
                <a:spcPts val="700"/>
              </a:spcBef>
              <a:defRPr sz="1200">
                <a:solidFill>
                  <a:srgbClr val="F0F7FF"/>
                </a:solidFill>
              </a:defRPr>
            </a:pPr>
            <a:r>
              <a:t>Publish / subscribe</a:t>
            </a:r>
            <a:br/>
            <a:r>
              <a:t>JSON telemetry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9718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DCE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2286000"/>
            <a:ext cx="1508760" cy="1874519"/>
          </a:xfrm>
          <a:prstGeom prst="roundRect">
            <a:avLst/>
          </a:prstGeom>
          <a:solidFill>
            <a:srgbClr val="0F1F3A"/>
          </a:solidFill>
          <a:ln>
            <a:solidFill>
              <a:srgbClr val="24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28016"/>
          <a:lstStyle/>
          <a:p>
            <a:pPr algn="ctr">
              <a:defRPr sz="1600" b="1">
                <a:solidFill>
                  <a:srgbClr val="2DDCE6"/>
                </a:solidFill>
              </a:defRPr>
            </a:pPr>
            <a:r>
              <a:t>PYTHON INGESTION</a:t>
            </a:r>
          </a:p>
          <a:p>
            <a:pPr>
              <a:spcBef>
                <a:spcPts val="700"/>
              </a:spcBef>
              <a:defRPr sz="1200">
                <a:solidFill>
                  <a:srgbClr val="F0F7FF"/>
                </a:solidFill>
              </a:defRPr>
            </a:pPr>
            <a:r>
              <a:t>Validate • store</a:t>
            </a:r>
            <a:br/>
            <a:r>
              <a:t>Alarm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6168" y="29718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DCE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64224" y="2286000"/>
            <a:ext cx="1508760" cy="1874519"/>
          </a:xfrm>
          <a:prstGeom prst="roundRect">
            <a:avLst/>
          </a:prstGeom>
          <a:solidFill>
            <a:srgbClr val="0F1F3A"/>
          </a:solidFill>
          <a:ln>
            <a:solidFill>
              <a:srgbClr val="24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28016"/>
          <a:lstStyle/>
          <a:p>
            <a:pPr algn="ctr">
              <a:defRPr sz="1600" b="1">
                <a:solidFill>
                  <a:srgbClr val="2DDCE6"/>
                </a:solidFill>
              </a:defRPr>
            </a:pPr>
            <a:r>
              <a:t>POSTGRESQL</a:t>
            </a:r>
          </a:p>
          <a:p>
            <a:pPr>
              <a:spcBef>
                <a:spcPts val="700"/>
              </a:spcBef>
              <a:defRPr sz="1200">
                <a:solidFill>
                  <a:srgbClr val="F0F7FF"/>
                </a:solidFill>
              </a:defRPr>
            </a:pPr>
            <a:r>
              <a:t>Readings • alarms</a:t>
            </a:r>
            <a:br/>
            <a:r>
              <a:t>Thresholds • work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0416" y="29718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DCE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48472" y="2286000"/>
            <a:ext cx="1508760" cy="1874519"/>
          </a:xfrm>
          <a:prstGeom prst="roundRect">
            <a:avLst/>
          </a:prstGeom>
          <a:solidFill>
            <a:srgbClr val="0F1F3A"/>
          </a:solidFill>
          <a:ln>
            <a:solidFill>
              <a:srgbClr val="24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28016"/>
          <a:lstStyle/>
          <a:p>
            <a:pPr algn="ctr">
              <a:defRPr sz="1600" b="1">
                <a:solidFill>
                  <a:srgbClr val="2DDCE6"/>
                </a:solidFill>
              </a:defRPr>
            </a:pPr>
            <a:r>
              <a:t>FASTAPI + SSE</a:t>
            </a:r>
          </a:p>
          <a:p>
            <a:pPr>
              <a:spcBef>
                <a:spcPts val="700"/>
              </a:spcBef>
              <a:defRPr sz="1200">
                <a:solidFill>
                  <a:srgbClr val="F0F7FF"/>
                </a:solidFill>
              </a:defRPr>
            </a:pPr>
            <a:r>
              <a:t>REST endpoints</a:t>
            </a:r>
            <a:br/>
            <a:r>
              <a:t>Live snapshots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84664" y="29718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DCE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32720" y="2286000"/>
            <a:ext cx="1508760" cy="1874519"/>
          </a:xfrm>
          <a:prstGeom prst="roundRect">
            <a:avLst/>
          </a:prstGeom>
          <a:solidFill>
            <a:srgbClr val="0F1F3A"/>
          </a:solidFill>
          <a:ln>
            <a:solidFill>
              <a:srgbClr val="24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28016"/>
          <a:lstStyle/>
          <a:p>
            <a:pPr algn="ctr">
              <a:defRPr sz="1600" b="1">
                <a:solidFill>
                  <a:srgbClr val="FFAE4B"/>
                </a:solidFill>
              </a:defRPr>
            </a:pPr>
            <a:r>
              <a:t>REACT DASHBOARD</a:t>
            </a:r>
          </a:p>
          <a:p>
            <a:pPr>
              <a:spcBef>
                <a:spcPts val="700"/>
              </a:spcBef>
              <a:defRPr sz="1200">
                <a:solidFill>
                  <a:srgbClr val="F0F7FF"/>
                </a:solidFill>
              </a:defRPr>
            </a:pPr>
            <a:r>
              <a:t>3D twin • charts</a:t>
            </a:r>
            <a:br/>
            <a:r>
              <a:t>Alerts • maintenance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920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0F7FF"/>
                </a:solidFill>
                <a:latin typeface="Aptos"/>
              </a:defRPr>
            </a:pPr>
            <a:r>
              <a:t>Live updates use Server-Sent Events (SSE). MQTT carries telemetry; PostgreSQL persists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DCE6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7BED7"/>
                </a:solidFill>
                <a:latin typeface="Aptos"/>
              </a:defRPr>
            </a:pPr>
            <a:r>
              <a:t>Each layer has a clear responsibility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7280" cy="41148"/>
          </a:xfrm>
          <a:prstGeom prst="rect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520440" cy="1417320"/>
          </a:xfrm>
          <a:prstGeom prst="roundRect">
            <a:avLst/>
          </a:prstGeom>
          <a:solidFill>
            <a:srgbClr val="0F1F3A"/>
          </a:solidFill>
          <a:ln>
            <a:solidFill>
              <a:srgbClr val="24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28016"/>
          <a:lstStyle/>
          <a:p>
            <a:pPr algn="ctr">
              <a:defRPr sz="1600" b="1">
                <a:solidFill>
                  <a:srgbClr val="2DDCE6"/>
                </a:solidFill>
              </a:defRPr>
            </a:pPr>
            <a:r>
              <a:t>DEVICE / DATA</a:t>
            </a:r>
          </a:p>
          <a:p>
            <a:pPr>
              <a:spcBef>
                <a:spcPts val="700"/>
              </a:spcBef>
              <a:defRPr sz="1200">
                <a:solidFill>
                  <a:srgbClr val="F0F7FF"/>
                </a:solidFill>
              </a:defRPr>
            </a:pPr>
            <a:r>
              <a:t>ESP32/Wokwi + Python simulator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520440" cy="1417320"/>
          </a:xfrm>
          <a:prstGeom prst="roundRect">
            <a:avLst/>
          </a:prstGeom>
          <a:solidFill>
            <a:srgbClr val="0F1F3A"/>
          </a:solidFill>
          <a:ln>
            <a:solidFill>
              <a:srgbClr val="24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28016"/>
          <a:lstStyle/>
          <a:p>
            <a:pPr algn="ctr">
              <a:defRPr sz="1600" b="1">
                <a:solidFill>
                  <a:srgbClr val="2DDCE6"/>
                </a:solidFill>
              </a:defRPr>
            </a:pPr>
            <a:r>
              <a:t>MESSAGING / STORAGE</a:t>
            </a:r>
          </a:p>
          <a:p>
            <a:pPr>
              <a:spcBef>
                <a:spcPts val="700"/>
              </a:spcBef>
              <a:defRPr sz="1200">
                <a:solidFill>
                  <a:srgbClr val="F0F7FF"/>
                </a:solidFill>
              </a:defRPr>
            </a:pPr>
            <a:r>
              <a:t>MQTT + PostgreSQL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645920"/>
            <a:ext cx="3520440" cy="1417320"/>
          </a:xfrm>
          <a:prstGeom prst="roundRect">
            <a:avLst/>
          </a:prstGeom>
          <a:solidFill>
            <a:srgbClr val="0F1F3A"/>
          </a:solidFill>
          <a:ln>
            <a:solidFill>
              <a:srgbClr val="24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28016"/>
          <a:lstStyle/>
          <a:p>
            <a:pPr algn="ctr">
              <a:defRPr sz="1600" b="1">
                <a:solidFill>
                  <a:srgbClr val="2DDCE6"/>
                </a:solidFill>
              </a:defRPr>
            </a:pPr>
            <a:r>
              <a:t>BACKEND</a:t>
            </a:r>
          </a:p>
          <a:p>
            <a:pPr>
              <a:spcBef>
                <a:spcPts val="700"/>
              </a:spcBef>
              <a:defRPr sz="1200">
                <a:solidFill>
                  <a:srgbClr val="F0F7FF"/>
                </a:solidFill>
              </a:defRPr>
            </a:pPr>
            <a:r>
              <a:t>Python ingestion + FastAPI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3520440"/>
            <a:ext cx="3520440" cy="1417320"/>
          </a:xfrm>
          <a:prstGeom prst="roundRect">
            <a:avLst/>
          </a:prstGeom>
          <a:solidFill>
            <a:srgbClr val="0F1F3A"/>
          </a:solidFill>
          <a:ln>
            <a:solidFill>
              <a:srgbClr val="24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28016"/>
          <a:lstStyle/>
          <a:p>
            <a:pPr algn="ctr">
              <a:defRPr sz="1600" b="1">
                <a:solidFill>
                  <a:srgbClr val="2DDCE6"/>
                </a:solidFill>
              </a:defRPr>
            </a:pPr>
            <a:r>
              <a:t>FRONTEND</a:t>
            </a:r>
          </a:p>
          <a:p>
            <a:pPr>
              <a:spcBef>
                <a:spcPts val="700"/>
              </a:spcBef>
              <a:defRPr sz="1200">
                <a:solidFill>
                  <a:srgbClr val="F0F7FF"/>
                </a:solidFill>
              </a:defRPr>
            </a:pPr>
            <a:r>
              <a:t>React + Vite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520440"/>
            <a:ext cx="3520440" cy="1417320"/>
          </a:xfrm>
          <a:prstGeom prst="roundRect">
            <a:avLst/>
          </a:prstGeom>
          <a:solidFill>
            <a:srgbClr val="0F1F3A"/>
          </a:solidFill>
          <a:ln>
            <a:solidFill>
              <a:srgbClr val="24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28016"/>
          <a:lstStyle/>
          <a:p>
            <a:pPr algn="ctr">
              <a:defRPr sz="1600" b="1">
                <a:solidFill>
                  <a:srgbClr val="2DDCE6"/>
                </a:solidFill>
              </a:defRPr>
            </a:pPr>
            <a:r>
              <a:t>VISUALIZATION</a:t>
            </a:r>
          </a:p>
          <a:p>
            <a:pPr>
              <a:spcBef>
                <a:spcPts val="700"/>
              </a:spcBef>
              <a:defRPr sz="1200">
                <a:solidFill>
                  <a:srgbClr val="F0F7FF"/>
                </a:solidFill>
              </a:defRPr>
            </a:pPr>
            <a:r>
              <a:t>Three.js / React Three Fiber + charts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7BED7"/>
                </a:solidFill>
                <a:latin typeface="Aptos"/>
              </a:defRPr>
            </a:pPr>
            <a:r>
              <a:t>Separation of concerns makes it easier to debug, extend and test each layer.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DCE6"/>
                </a:solidFill>
                <a:latin typeface="Aptos"/>
              </a:defRPr>
            </a:pPr>
            <a:r>
              <a:t>What the operator sees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7BED7"/>
                </a:solidFill>
                <a:latin typeface="Aptos"/>
              </a:defRPr>
            </a:pPr>
            <a:r>
              <a:t>One interface for fleet health and investigation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7280" cy="41148"/>
          </a:xfrm>
          <a:prstGeom prst="rect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1828800"/>
          </a:xfrm>
          <a:prstGeom prst="roundRect">
            <a:avLst/>
          </a:prstGeom>
          <a:solidFill>
            <a:srgbClr val="0F1F3A"/>
          </a:solidFill>
          <a:ln>
            <a:solidFill>
              <a:srgbClr val="24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28016"/>
          <a:lstStyle/>
          <a:p>
            <a:pPr algn="ctr">
              <a:defRPr sz="1600" b="1">
                <a:solidFill>
                  <a:srgbClr val="2DDCE6"/>
                </a:solidFill>
              </a:defRPr>
            </a:pPr>
            <a:r>
              <a:t>OVERVIEW</a:t>
            </a:r>
          </a:p>
          <a:p>
            <a:pPr>
              <a:spcBef>
                <a:spcPts val="700"/>
              </a:spcBef>
              <a:defRPr sz="1200">
                <a:solidFill>
                  <a:srgbClr val="F0F7FF"/>
                </a:solidFill>
              </a:defRPr>
            </a:pPr>
            <a:r>
              <a:t>Fleet status, online machines, active alarms and system indicators.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29000" cy="1828800"/>
          </a:xfrm>
          <a:prstGeom prst="roundRect">
            <a:avLst/>
          </a:prstGeom>
          <a:solidFill>
            <a:srgbClr val="0F1F3A"/>
          </a:solidFill>
          <a:ln>
            <a:solidFill>
              <a:srgbClr val="24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28016"/>
          <a:lstStyle/>
          <a:p>
            <a:pPr algn="ctr">
              <a:defRPr sz="1600" b="1">
                <a:solidFill>
                  <a:srgbClr val="2DDCE6"/>
                </a:solidFill>
              </a:defRPr>
            </a:pPr>
            <a:r>
              <a:t>MACHINE DETAIL</a:t>
            </a:r>
          </a:p>
          <a:p>
            <a:pPr>
              <a:spcBef>
                <a:spcPts val="700"/>
              </a:spcBef>
              <a:defRPr sz="1200">
                <a:solidFill>
                  <a:srgbClr val="F0F7FF"/>
                </a:solidFill>
              </a:defRPr>
            </a:pPr>
            <a:r>
              <a:t>Sensor readings and machine-specific threshold context.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429000" cy="1828800"/>
          </a:xfrm>
          <a:prstGeom prst="roundRect">
            <a:avLst/>
          </a:prstGeom>
          <a:solidFill>
            <a:srgbClr val="0F1F3A"/>
          </a:solidFill>
          <a:ln>
            <a:solidFill>
              <a:srgbClr val="24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28016"/>
          <a:lstStyle/>
          <a:p>
            <a:pPr algn="ctr">
              <a:defRPr sz="1600" b="1">
                <a:solidFill>
                  <a:srgbClr val="2DDCE6"/>
                </a:solidFill>
              </a:defRPr>
            </a:pPr>
            <a:r>
              <a:t>HISTORY &amp; ANALYTICS</a:t>
            </a:r>
          </a:p>
          <a:p>
            <a:pPr>
              <a:spcBef>
                <a:spcPts val="700"/>
              </a:spcBef>
              <a:defRPr sz="1200">
                <a:solidFill>
                  <a:srgbClr val="F0F7FF"/>
                </a:solidFill>
              </a:defRPr>
            </a:pPr>
            <a:r>
              <a:t>Time-series views and trend/anomaly indicators.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3886200"/>
            <a:ext cx="3429000" cy="1417320"/>
          </a:xfrm>
          <a:prstGeom prst="roundRect">
            <a:avLst/>
          </a:prstGeom>
          <a:solidFill>
            <a:srgbClr val="0F1F3A"/>
          </a:solidFill>
          <a:ln>
            <a:solidFill>
              <a:srgbClr val="24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28016"/>
          <a:lstStyle/>
          <a:p>
            <a:pPr algn="ctr">
              <a:defRPr sz="1600" b="1">
                <a:solidFill>
                  <a:srgbClr val="2DDCE6"/>
                </a:solidFill>
              </a:defRPr>
            </a:pPr>
            <a:r>
              <a:t>3D FACTORY</a:t>
            </a:r>
          </a:p>
          <a:p>
            <a:pPr>
              <a:spcBef>
                <a:spcPts val="700"/>
              </a:spcBef>
              <a:defRPr sz="1200">
                <a:solidFill>
                  <a:srgbClr val="F0F7FF"/>
                </a:solidFill>
              </a:defRPr>
            </a:pPr>
            <a:r>
              <a:t>Digital representation of assets and status.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86200"/>
            <a:ext cx="3429000" cy="1417320"/>
          </a:xfrm>
          <a:prstGeom prst="roundRect">
            <a:avLst/>
          </a:prstGeom>
          <a:solidFill>
            <a:srgbClr val="0F1F3A"/>
          </a:solidFill>
          <a:ln>
            <a:solidFill>
              <a:srgbClr val="24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28016"/>
          <a:lstStyle/>
          <a:p>
            <a:pPr algn="ctr">
              <a:defRPr sz="1600" b="1">
                <a:solidFill>
                  <a:srgbClr val="2DDCE6"/>
                </a:solidFill>
              </a:defRPr>
            </a:pPr>
            <a:r>
              <a:t>ALERTS &amp; MAINTENANCE</a:t>
            </a:r>
          </a:p>
          <a:p>
            <a:pPr>
              <a:spcBef>
                <a:spcPts val="700"/>
              </a:spcBef>
              <a:defRPr sz="1200">
                <a:solidFill>
                  <a:srgbClr val="F0F7FF"/>
                </a:solidFill>
              </a:defRPr>
            </a:pPr>
            <a:r>
              <a:t>Acknowledge alarms and track work orders.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DCE6"/>
                </a:solidFill>
                <a:latin typeface="Aptos"/>
              </a:defRPr>
            </a:pPr>
            <a:r>
              <a:t>Alarm and maintenance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7BED7"/>
                </a:solidFill>
                <a:latin typeface="Aptos"/>
              </a:defRPr>
            </a:pPr>
            <a:r>
              <a:t>From a sensor signal to an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7280" cy="41148"/>
          </a:xfrm>
          <a:prstGeom prst="rect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600200"/>
            <a:ext cx="411480" cy="411480"/>
          </a:xfrm>
          <a:prstGeom prst="ellipse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81226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58191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0F7FF"/>
                </a:solidFill>
                <a:latin typeface="Aptos"/>
              </a:defRPr>
            </a:pPr>
            <a:r>
              <a:t>Sensor reading arrives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295144"/>
            <a:ext cx="411480" cy="411480"/>
          </a:xfrm>
          <a:prstGeom prst="ellipse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81226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27685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0F7FF"/>
                </a:solidFill>
                <a:latin typeface="Aptos"/>
              </a:defRPr>
            </a:pPr>
            <a:r>
              <a:t>Ingestion validates payload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990088"/>
            <a:ext cx="411480" cy="411480"/>
          </a:xfrm>
          <a:prstGeom prst="ellipse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81226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9718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0F7FF"/>
                </a:solidFill>
                <a:latin typeface="Aptos"/>
              </a:defRPr>
            </a:pPr>
            <a:r>
              <a:t>Threshold logic checks conditions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685032"/>
            <a:ext cx="411480" cy="411480"/>
          </a:xfrm>
          <a:prstGeom prst="ellipse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81226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66674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0F7FF"/>
                </a:solidFill>
                <a:latin typeface="Aptos"/>
              </a:defRPr>
            </a:pPr>
            <a:r>
              <a:t>Alarm is stored and shown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379976"/>
            <a:ext cx="411480" cy="411480"/>
          </a:xfrm>
          <a:prstGeom prst="ellipse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81226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36168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0F7FF"/>
                </a:solidFill>
                <a:latin typeface="Aptos"/>
              </a:defRPr>
            </a:pPr>
            <a:r>
              <a:t>Operator acknowledges / investigates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5074920"/>
            <a:ext cx="411480" cy="411480"/>
          </a:xfrm>
          <a:prstGeom prst="ellipse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81226"/>
                </a:solidFill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0566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0F7FF"/>
                </a:solidFill>
                <a:latin typeface="Aptos"/>
              </a:defRPr>
            </a:pPr>
            <a:r>
              <a:t>Maintenance work order is tracked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DCE6"/>
                </a:solidFill>
                <a:latin typeface="Aptos"/>
              </a:defRPr>
            </a:pPr>
            <a:r>
              <a:t>Analytics: useful, but honest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7BED7"/>
                </a:solidFill>
                <a:latin typeface="Aptos"/>
              </a:defRPr>
            </a:pPr>
            <a:r>
              <a:t>What the indicators mean—and what they do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7280" cy="41148"/>
          </a:xfrm>
          <a:prstGeom prst="rect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1828800"/>
          </a:xfrm>
          <a:prstGeom prst="roundRect">
            <a:avLst/>
          </a:prstGeom>
          <a:solidFill>
            <a:srgbClr val="0F1F3A"/>
          </a:solidFill>
          <a:ln>
            <a:solidFill>
              <a:srgbClr val="24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28016"/>
          <a:lstStyle/>
          <a:p>
            <a:pPr algn="ctr">
              <a:defRPr sz="1600" b="1">
                <a:solidFill>
                  <a:srgbClr val="2DDCE6"/>
                </a:solidFill>
              </a:defRPr>
            </a:pPr>
            <a:r>
              <a:t>HEALTH INDEX</a:t>
            </a:r>
          </a:p>
          <a:p>
            <a:pPr>
              <a:spcBef>
                <a:spcPts val="700"/>
              </a:spcBef>
              <a:defRPr sz="1200">
                <a:solidFill>
                  <a:srgbClr val="F0F7FF"/>
                </a:solidFill>
              </a:defRPr>
            </a:pPr>
            <a:r>
              <a:t>A computed indicator based on distance to configured limits, trends and anomalies.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74720" cy="1828800"/>
          </a:xfrm>
          <a:prstGeom prst="roundRect">
            <a:avLst/>
          </a:prstGeom>
          <a:solidFill>
            <a:srgbClr val="0F1F3A"/>
          </a:solidFill>
          <a:ln>
            <a:solidFill>
              <a:srgbClr val="24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28016"/>
          <a:lstStyle/>
          <a:p>
            <a:pPr algn="ctr">
              <a:defRPr sz="1600" b="1">
                <a:solidFill>
                  <a:srgbClr val="2DDCE6"/>
                </a:solidFill>
              </a:defRPr>
            </a:pPr>
            <a:r>
              <a:t>TREND HINTS</a:t>
            </a:r>
          </a:p>
          <a:p>
            <a:pPr>
              <a:spcBef>
                <a:spcPts val="700"/>
              </a:spcBef>
              <a:defRPr sz="1200">
                <a:solidFill>
                  <a:srgbClr val="F0F7FF"/>
                </a:solidFill>
              </a:defRPr>
            </a:pPr>
            <a:r>
              <a:t>Statistical trend and z-score logic can flag readings approaching a threshold.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474720" cy="1828800"/>
          </a:xfrm>
          <a:prstGeom prst="roundRect">
            <a:avLst/>
          </a:prstGeom>
          <a:solidFill>
            <a:srgbClr val="0F1F3A"/>
          </a:solidFill>
          <a:ln>
            <a:solidFill>
              <a:srgbClr val="24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28016"/>
          <a:lstStyle/>
          <a:p>
            <a:pPr algn="ctr">
              <a:defRPr sz="1600" b="1">
                <a:solidFill>
                  <a:srgbClr val="2DDCE6"/>
                </a:solidFill>
              </a:defRPr>
            </a:pPr>
            <a:r>
              <a:t>NOT A GUARANTEE</a:t>
            </a:r>
          </a:p>
          <a:p>
            <a:pPr>
              <a:spcBef>
                <a:spcPts val="700"/>
              </a:spcBef>
              <a:defRPr sz="1200">
                <a:solidFill>
                  <a:srgbClr val="F0F7FF"/>
                </a:solidFill>
              </a:defRPr>
            </a:pPr>
            <a:r>
              <a:t>These are heuristics, not a trained or safety-certified failure predictor.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241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AE4B"/>
                </a:solidFill>
                <a:latin typeface="Aptos"/>
              </a:defRPr>
            </a:pPr>
            <a:r>
              <a:t>OEE is not implemented from real production data: verified PLC production counters and cycle-time inputs are required.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778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7BED7"/>
                </a:solidFill>
                <a:latin typeface="Aptos"/>
              </a:defRPr>
            </a:pPr>
            <a:r>
              <a:t>“Availability (24 h)” in the dashboard means data availability—not production uptime.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DCE6"/>
                </a:solidFill>
                <a:latin typeface="Aptos"/>
              </a:defRPr>
            </a:pPr>
            <a:r>
              <a:t>Live demo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7BED7"/>
                </a:solidFill>
                <a:latin typeface="Aptos"/>
              </a:defRPr>
            </a:pPr>
            <a:r>
              <a:t>A short, reliable walkthrough for faculty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7280" cy="41148"/>
          </a:xfrm>
          <a:prstGeom prst="rect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0F7FF"/>
                </a:solidFill>
              </a:defRPr>
            </a:pPr>
            <a:r>
              <a:t>•  Open Overview and confirm that the API, database and telemetry pipeline are healthy.</a:t>
            </a:r>
          </a:p>
          <a:p>
            <a:pPr>
              <a:spcAft>
                <a:spcPts val="1400"/>
              </a:spcAft>
              <a:defRPr sz="1800">
                <a:solidFill>
                  <a:srgbClr val="F0F7FF"/>
                </a:solidFill>
              </a:defRPr>
            </a:pPr>
            <a:r>
              <a:t>•  Show sensor values and machine connectivity on the Machines page.</a:t>
            </a:r>
          </a:p>
          <a:p>
            <a:pPr>
              <a:spcAft>
                <a:spcPts val="1400"/>
              </a:spcAft>
              <a:defRPr sz="1800">
                <a:solidFill>
                  <a:srgbClr val="F0F7FF"/>
                </a:solidFill>
              </a:defRPr>
            </a:pPr>
            <a:r>
              <a:t>•  Trigger or wait for a simulator alarm; open Alerts and acknowledge it.</a:t>
            </a:r>
          </a:p>
          <a:p>
            <a:pPr>
              <a:spcAft>
                <a:spcPts val="1400"/>
              </a:spcAft>
              <a:defRPr sz="1800">
                <a:solidFill>
                  <a:srgbClr val="F0F7FF"/>
                </a:solidFill>
              </a:defRPr>
            </a:pPr>
            <a:r>
              <a:t>•  Open Analytics/History to explain a trend and the evidence behind it.</a:t>
            </a:r>
          </a:p>
          <a:p>
            <a:pPr>
              <a:spcAft>
                <a:spcPts val="1400"/>
              </a:spcAft>
              <a:defRPr sz="1800">
                <a:solidFill>
                  <a:srgbClr val="F0F7FF"/>
                </a:solidFill>
              </a:defRPr>
            </a:pPr>
            <a:r>
              <a:t>•  Create or update a maintenance work order if the live setup supports it.</a:t>
            </a:r>
          </a:p>
          <a:p>
            <a:pPr>
              <a:spcAft>
                <a:spcPts val="1400"/>
              </a:spcAft>
              <a:defRPr sz="1800">
                <a:solidFill>
                  <a:srgbClr val="F0F7FF"/>
                </a:solidFill>
              </a:defRPr>
            </a:pPr>
            <a:r>
              <a:t>•  Finish on the 3D factory view and explain the operational benefit.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DCE6"/>
                </a:solidFill>
                <a:latin typeface="Aptos"/>
              </a:defRPr>
            </a:pPr>
            <a:r>
              <a:t>Deployment and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7BED7"/>
                </a:solidFill>
                <a:latin typeface="Aptos"/>
              </a:defRPr>
            </a:pPr>
            <a:r>
              <a:t>What must be running for a successful demonstration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7280" cy="41148"/>
          </a:xfrm>
          <a:prstGeom prst="rect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520440" cy="1874519"/>
          </a:xfrm>
          <a:prstGeom prst="roundRect">
            <a:avLst/>
          </a:prstGeom>
          <a:solidFill>
            <a:srgbClr val="0F1F3A"/>
          </a:solidFill>
          <a:ln>
            <a:solidFill>
              <a:srgbClr val="24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28016"/>
          <a:lstStyle/>
          <a:p>
            <a:pPr algn="ctr">
              <a:defRPr sz="1600" b="1">
                <a:solidFill>
                  <a:srgbClr val="2DDCE6"/>
                </a:solidFill>
              </a:defRPr>
            </a:pPr>
            <a:r>
              <a:t>DATABASE</a:t>
            </a:r>
          </a:p>
          <a:p>
            <a:pPr>
              <a:spcBef>
                <a:spcPts val="700"/>
              </a:spcBef>
              <a:defRPr sz="1200">
                <a:solidFill>
                  <a:srgbClr val="F0F7FF"/>
                </a:solidFill>
              </a:defRPr>
            </a:pPr>
            <a:r>
              <a:t>PostgreSQL reachable; correct DATABASE_URL or DB_* values; schema initialized.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520440" cy="1874519"/>
          </a:xfrm>
          <a:prstGeom prst="roundRect">
            <a:avLst/>
          </a:prstGeom>
          <a:solidFill>
            <a:srgbClr val="0F1F3A"/>
          </a:solidFill>
          <a:ln>
            <a:solidFill>
              <a:srgbClr val="24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28016"/>
          <a:lstStyle/>
          <a:p>
            <a:pPr algn="ctr">
              <a:defRPr sz="1600" b="1">
                <a:solidFill>
                  <a:srgbClr val="2DDCE6"/>
                </a:solidFill>
              </a:defRPr>
            </a:pPr>
            <a:r>
              <a:t>BACKEND</a:t>
            </a:r>
          </a:p>
          <a:p>
            <a:pPr>
              <a:spcBef>
                <a:spcPts val="700"/>
              </a:spcBef>
              <a:defRPr sz="1200">
                <a:solidFill>
                  <a:srgbClr val="F0F7FF"/>
                </a:solidFill>
              </a:defRPr>
            </a:pPr>
            <a:r>
              <a:t>FastAPI and MQTT subscriber running once each; correct database and broker settings.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645920"/>
            <a:ext cx="3520440" cy="1874519"/>
          </a:xfrm>
          <a:prstGeom prst="roundRect">
            <a:avLst/>
          </a:prstGeom>
          <a:solidFill>
            <a:srgbClr val="0F1F3A"/>
          </a:solidFill>
          <a:ln>
            <a:solidFill>
              <a:srgbClr val="24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28016"/>
          <a:lstStyle/>
          <a:p>
            <a:pPr algn="ctr">
              <a:defRPr sz="1600" b="1">
                <a:solidFill>
                  <a:srgbClr val="2DDCE6"/>
                </a:solidFill>
              </a:defRPr>
            </a:pPr>
            <a:r>
              <a:t>FRONTEND + SOURCE</a:t>
            </a:r>
          </a:p>
          <a:p>
            <a:pPr>
              <a:spcBef>
                <a:spcPts val="700"/>
              </a:spcBef>
              <a:defRPr sz="1200">
                <a:solidFill>
                  <a:srgbClr val="F0F7FF"/>
                </a:solidFill>
              </a:defRPr>
            </a:pPr>
            <a:r>
              <a:t>Vercel origin allowed by CORS; API URL points to the deployed API; simulator/device publishes.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AE4B"/>
                </a:solidFill>
                <a:latin typeface="Aptos"/>
              </a:defRPr>
            </a:pPr>
            <a:r>
              <a:t>If /api/health/db fails, resolve database URL, credentials, network access and schema before the demo.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235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7BED7"/>
                </a:solidFill>
                <a:latin typeface="Aptos"/>
              </a:defRPr>
            </a:pPr>
            <a:r>
              <a:t>Never commit passwords, private .env files or exposed secrets to GitHub.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DCE6"/>
                </a:solidFill>
                <a:latin typeface="Aptos"/>
              </a:defRPr>
            </a:pPr>
            <a:r>
              <a:t>Practical value and social/industry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7BED7"/>
                </a:solidFill>
                <a:latin typeface="Aptos"/>
              </a:defRPr>
            </a:pPr>
            <a:r>
              <a:t>What the project can help a team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7280" cy="41148"/>
          </a:xfrm>
          <a:prstGeom prst="rect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1828800"/>
          </a:xfrm>
          <a:prstGeom prst="roundRect">
            <a:avLst/>
          </a:prstGeom>
          <a:solidFill>
            <a:srgbClr val="0F1F3A"/>
          </a:solidFill>
          <a:ln>
            <a:solidFill>
              <a:srgbClr val="24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28016"/>
          <a:lstStyle/>
          <a:p>
            <a:pPr algn="ctr">
              <a:defRPr sz="1600" b="1">
                <a:solidFill>
                  <a:srgbClr val="2DDCE6"/>
                </a:solidFill>
              </a:defRPr>
            </a:pPr>
            <a:r>
              <a:t>VISIBILITY</a:t>
            </a:r>
          </a:p>
          <a:p>
            <a:pPr>
              <a:spcBef>
                <a:spcPts val="700"/>
              </a:spcBef>
              <a:defRPr sz="1200">
                <a:solidFill>
                  <a:srgbClr val="F0F7FF"/>
                </a:solidFill>
              </a:defRPr>
            </a:pPr>
            <a:r>
              <a:t>Inspect machine readings and connectivity in one place.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29000" cy="1828800"/>
          </a:xfrm>
          <a:prstGeom prst="roundRect">
            <a:avLst/>
          </a:prstGeom>
          <a:solidFill>
            <a:srgbClr val="0F1F3A"/>
          </a:solidFill>
          <a:ln>
            <a:solidFill>
              <a:srgbClr val="24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28016"/>
          <a:lstStyle/>
          <a:p>
            <a:pPr algn="ctr">
              <a:defRPr sz="1600" b="1">
                <a:solidFill>
                  <a:srgbClr val="2DDCE6"/>
                </a:solidFill>
              </a:defRPr>
            </a:pPr>
            <a:r>
              <a:t>EARLIER INVESTIGATION</a:t>
            </a:r>
          </a:p>
          <a:p>
            <a:pPr>
              <a:spcBef>
                <a:spcPts val="700"/>
              </a:spcBef>
              <a:defRPr sz="1200">
                <a:solidFill>
                  <a:srgbClr val="F0F7FF"/>
                </a:solidFill>
              </a:defRPr>
            </a:pPr>
            <a:r>
              <a:t>Notice abnormal signals and investigate before the issue grows.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429000" cy="1828800"/>
          </a:xfrm>
          <a:prstGeom prst="roundRect">
            <a:avLst/>
          </a:prstGeom>
          <a:solidFill>
            <a:srgbClr val="0F1F3A"/>
          </a:solidFill>
          <a:ln>
            <a:solidFill>
              <a:srgbClr val="24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28016"/>
          <a:lstStyle/>
          <a:p>
            <a:pPr algn="ctr">
              <a:defRPr sz="1600" b="1">
                <a:solidFill>
                  <a:srgbClr val="2DDCE6"/>
                </a:solidFill>
              </a:defRPr>
            </a:pPr>
            <a:r>
              <a:t>ACCOUNTABILITY</a:t>
            </a:r>
          </a:p>
          <a:p>
            <a:pPr>
              <a:spcBef>
                <a:spcPts val="700"/>
              </a:spcBef>
              <a:defRPr sz="1200">
                <a:solidFill>
                  <a:srgbClr val="F0F7FF"/>
                </a:solidFill>
              </a:defRPr>
            </a:pPr>
            <a:r>
              <a:t>Keep alarm history and track maintenance tasks.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0F7FF"/>
                </a:solidFill>
                <a:latin typeface="Aptos"/>
              </a:defRPr>
            </a:pPr>
            <a:r>
              <a:t>Potential benefit: more organized monitoring and maintenance decisions. Real-world benefit must be validated with real assets and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DCE6"/>
                </a:solidFill>
                <a:latin typeface="Aptos"/>
              </a:defRPr>
            </a:pPr>
            <a:r>
              <a:t>Limitations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7BED7"/>
                </a:solidFill>
                <a:latin typeface="Aptos"/>
              </a:defRPr>
            </a:pPr>
            <a:r>
              <a:t>Path from prototype to industrial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7280" cy="41148"/>
          </a:xfrm>
          <a:prstGeom prst="rect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520440" cy="1965960"/>
          </a:xfrm>
          <a:prstGeom prst="roundRect">
            <a:avLst/>
          </a:prstGeom>
          <a:solidFill>
            <a:srgbClr val="0F1F3A"/>
          </a:solidFill>
          <a:ln>
            <a:solidFill>
              <a:srgbClr val="24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28016"/>
          <a:lstStyle/>
          <a:p>
            <a:pPr algn="ctr">
              <a:defRPr sz="1600" b="1">
                <a:solidFill>
                  <a:srgbClr val="2DDCE6"/>
                </a:solidFill>
              </a:defRPr>
            </a:pPr>
            <a:r>
              <a:t>REAL PLC DATA</a:t>
            </a:r>
          </a:p>
          <a:p>
            <a:pPr>
              <a:spcBef>
                <a:spcPts val="700"/>
              </a:spcBef>
              <a:defRPr sz="1200">
                <a:solidFill>
                  <a:srgbClr val="F0F7FF"/>
                </a:solidFill>
              </a:defRPr>
            </a:pPr>
            <a:r>
              <a:t>Add verified production counts, cycle times and calibrated sensor feeds.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520440" cy="1965960"/>
          </a:xfrm>
          <a:prstGeom prst="roundRect">
            <a:avLst/>
          </a:prstGeom>
          <a:solidFill>
            <a:srgbClr val="0F1F3A"/>
          </a:solidFill>
          <a:ln>
            <a:solidFill>
              <a:srgbClr val="24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28016"/>
          <a:lstStyle/>
          <a:p>
            <a:pPr algn="ctr">
              <a:defRPr sz="1600" b="1">
                <a:solidFill>
                  <a:srgbClr val="2DDCE6"/>
                </a:solidFill>
              </a:defRPr>
            </a:pPr>
            <a:r>
              <a:t>SECURITY</a:t>
            </a:r>
          </a:p>
          <a:p>
            <a:pPr>
              <a:spcBef>
                <a:spcPts val="700"/>
              </a:spcBef>
              <a:defRPr sz="1200">
                <a:solidFill>
                  <a:srgbClr val="F0F7FF"/>
                </a:solidFill>
              </a:defRPr>
            </a:pPr>
            <a:r>
              <a:t>Server-side authentication, roles, TLS, secrets management and broker ACLs.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645920"/>
            <a:ext cx="3520440" cy="1965960"/>
          </a:xfrm>
          <a:prstGeom prst="roundRect">
            <a:avLst/>
          </a:prstGeom>
          <a:solidFill>
            <a:srgbClr val="0F1F3A"/>
          </a:solidFill>
          <a:ln>
            <a:solidFill>
              <a:srgbClr val="24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28016"/>
          <a:lstStyle/>
          <a:p>
            <a:pPr algn="ctr">
              <a:defRPr sz="1600" b="1">
                <a:solidFill>
                  <a:srgbClr val="2DDCE6"/>
                </a:solidFill>
              </a:defRPr>
            </a:pPr>
            <a:r>
              <a:t>VALIDATION</a:t>
            </a:r>
          </a:p>
          <a:p>
            <a:pPr>
              <a:spcBef>
                <a:spcPts val="700"/>
              </a:spcBef>
              <a:defRPr sz="1200">
                <a:solidFill>
                  <a:srgbClr val="F0F7FF"/>
                </a:solidFill>
              </a:defRPr>
            </a:pPr>
            <a:r>
              <a:t>Test alarms, predictions, backups and container deployment against acceptance criteria.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519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0F7FF"/>
                </a:solidFill>
              </a:defRPr>
            </a:pPr>
            <a:r>
              <a:t>•  Validate prediction methods against representative failure data.</a:t>
            </a:r>
          </a:p>
          <a:p>
            <a:pPr>
              <a:spcAft>
                <a:spcPts val="1400"/>
              </a:spcAft>
              <a:defRPr sz="1600">
                <a:solidFill>
                  <a:srgbClr val="F0F7FF"/>
                </a:solidFill>
              </a:defRPr>
            </a:pPr>
            <a:r>
              <a:t>•  Integrate OEE only when reliable production counters are available.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DCE6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7FF"/>
                </a:solidFill>
                <a:latin typeface="Aptos"/>
              </a:defRPr>
            </a:pPr>
            <a:r>
              <a:t>Digital Twin Factory connects IoT telemetry to an actionable, visual operations dashboard.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8892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A7BED7"/>
                </a:solidFill>
                <a:latin typeface="Aptos"/>
              </a:defRPr>
            </a:pPr>
            <a:r>
              <a:t>It demonstrates full-stack integration across messaging, storage, APIs, live updates, analytics and maintenance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251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DCE6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166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7FF"/>
                </a:solidFill>
                <a:latin typeface="Aptos"/>
              </a:defRPr>
            </a:pPr>
            <a:r>
              <a:t>GitHub: https://github.com/swajith-26/Digital-twin-Factory</a:t>
            </a:r>
            <a:br/>
            <a:r>
              <a:t>Guide: Dr. Chiranjeevi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